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-56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Office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 (€k)</c:v>
                </c:pt>
              </c:strCache>
            </c:strRef>
          </c:tx>
          <c:spPr>
            <a:solidFill>
              <a:srgbClr val="2563EB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831</c:v>
                </c:pt>
                <c:pt idx="1">
                  <c:v>343</c:v>
                </c:pt>
                <c:pt idx="2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(€k)</c:v>
                </c:pt>
              </c:strCache>
            </c:strRef>
          </c:tx>
          <c:spPr>
            <a:solidFill>
              <a:srgbClr val="F0B429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386</c:v>
                </c:pt>
                <c:pt idx="1">
                  <c:v>164</c:v>
                </c:pt>
                <c:pt idx="2">
                  <c:v>18</c:v>
                </c:pt>
              </c:numCache>
            </c:numRef>
          </c:val>
        </c:ser>
        <c:dLbls>
          <c:showVal val="1"/>
        </c:dLbls>
        <c:axId val="124999168"/>
        <c:axId val="125000704"/>
      </c:barChart>
      <c:catAx>
        <c:axId val="12499916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s-ES"/>
          </a:p>
        </c:txPr>
        <c:crossAx val="125000704"/>
        <c:crosses val="autoZero"/>
        <c:auto val="1"/>
        <c:lblAlgn val="ctr"/>
        <c:lblOffset val="100"/>
        <c:noMultiLvlLbl val="1"/>
      </c:catAx>
      <c:valAx>
        <c:axId val="125000704"/>
        <c:scaling>
          <c:orientation val="minMax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s-ES"/>
          </a:p>
        </c:txPr>
        <c:crossAx val="12499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900"/>
          </a:pPr>
          <a:endParaRPr lang="es-E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 (€k)</c:v>
                </c:pt>
              </c:strCache>
            </c:strRef>
          </c:tx>
          <c:spPr>
            <a:solidFill>
              <a:srgbClr val="2563EB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Sheet1!$A$2:$A$8</c:f>
              <c:strCache>
                <c:ptCount val="7"/>
                <c:pt idx="0">
                  <c:v>Yvette Biti</c:v>
                </c:pt>
                <c:pt idx="1">
                  <c:v>Natasha Song</c:v>
                </c:pt>
                <c:pt idx="2">
                  <c:v>Tina Carlton</c:v>
                </c:pt>
                <c:pt idx="3">
                  <c:v>Connor Betts</c:v>
                </c:pt>
                <c:pt idx="4">
                  <c:v>Mihael Khan</c:v>
                </c:pt>
                <c:pt idx="5">
                  <c:v>Leighton Forrest</c:v>
                </c:pt>
                <c:pt idx="6">
                  <c:v>Samantha Chairs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</c:v>
                </c:pt>
                <c:pt idx="1">
                  <c:v>128</c:v>
                </c:pt>
                <c:pt idx="2">
                  <c:v>127</c:v>
                </c:pt>
                <c:pt idx="3">
                  <c:v>121</c:v>
                </c:pt>
                <c:pt idx="4">
                  <c:v>91</c:v>
                </c:pt>
                <c:pt idx="5">
                  <c:v>91</c:v>
                </c:pt>
                <c:pt idx="6">
                  <c:v>86</c:v>
                </c:pt>
              </c:numCache>
            </c:numRef>
          </c:val>
        </c:ser>
        <c:dLbls>
          <c:showVal val="1"/>
        </c:dLbls>
        <c:axId val="124760064"/>
        <c:axId val="124761600"/>
      </c:barChart>
      <c:catAx>
        <c:axId val="12476006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4761600"/>
        <c:crosses val="autoZero"/>
        <c:auto val="1"/>
        <c:lblAlgn val="ctr"/>
        <c:lblOffset val="100"/>
        <c:noMultiLvlLbl val="1"/>
      </c:catAx>
      <c:valAx>
        <c:axId val="124761600"/>
        <c:scaling>
          <c:orientation val="minMax"/>
        </c:scaling>
        <c:axPos val="b"/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476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3380"/>
    </a:solidFill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1E2761"/>
              </a:solidFill>
              <a:effectLst/>
            </c:spPr>
          </c:dPt>
          <c:dPt>
            <c:idx val="1"/>
            <c:spPr>
              <a:solidFill>
                <a:srgbClr val="2563EB"/>
              </a:solidFill>
              <a:effectLst/>
            </c:spPr>
          </c:dPt>
          <c:dPt>
            <c:idx val="2"/>
            <c:spPr>
              <a:solidFill>
                <a:srgbClr val="0891B2"/>
              </a:solidFill>
              <a:effectLst/>
            </c:spPr>
          </c:dPt>
          <c:dPt>
            <c:idx val="3"/>
            <c:spPr>
              <a:solidFill>
                <a:srgbClr val="F0B429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Percent val="1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CatName val="1"/>
            <c:showPercent val="1"/>
          </c:dLbls>
          <c:cat>
            <c:strRef>
              <c:f>Sheet1!$A$2:$A$5</c:f>
              <c:strCache>
                <c:ptCount val="4"/>
                <c:pt idx="0">
                  <c:v>Home Office</c:v>
                </c:pt>
                <c:pt idx="1">
                  <c:v>Corporate</c:v>
                </c:pt>
                <c:pt idx="2">
                  <c:v>Small Business</c:v>
                </c:pt>
                <c:pt idx="3">
                  <c:v>Consumer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31</c:v>
                </c:pt>
                <c:pt idx="2">
                  <c:v>19</c:v>
                </c:pt>
                <c:pt idx="3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900"/>
          </a:pPr>
          <a:endParaRPr lang="es-E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(%)</c:v>
                </c:pt>
              </c:strCache>
            </c:strRef>
          </c:tx>
          <c:spPr>
            <a:solidFill>
              <a:srgbClr val="2563EB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-43.160000000000004</c:v>
                </c:pt>
                <c:pt idx="1">
                  <c:v>64.22</c:v>
                </c:pt>
                <c:pt idx="2">
                  <c:v>-40.44</c:v>
                </c:pt>
                <c:pt idx="3">
                  <c:v>32.4</c:v>
                </c:pt>
              </c:numCache>
            </c:numRef>
          </c:val>
        </c:ser>
        <c:dLbls>
          <c:showVal val="1"/>
        </c:dLbls>
        <c:axId val="125626624"/>
        <c:axId val="125628416"/>
      </c:barChart>
      <c:catAx>
        <c:axId val="12562662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5628416"/>
        <c:crosses val="autoZero"/>
        <c:auto val="1"/>
        <c:lblAlgn val="ctr"/>
        <c:lblOffset val="100"/>
        <c:noMultiLvlLbl val="1"/>
      </c:catAx>
      <c:valAx>
        <c:axId val="125628416"/>
        <c:scaling>
          <c:orientation val="minMax"/>
        </c:scaling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562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3380"/>
    </a:solidFill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F0B429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235</c:v>
                </c:pt>
                <c:pt idx="1">
                  <c:v>258</c:v>
                </c:pt>
                <c:pt idx="2">
                  <c:v>253</c:v>
                </c:pt>
                <c:pt idx="3">
                  <c:v>247</c:v>
                </c:pt>
              </c:numCache>
            </c:numRef>
          </c:val>
        </c:ser>
        <c:dLbls>
          <c:showVal val="1"/>
        </c:dLbls>
        <c:axId val="125881344"/>
        <c:axId val="127140608"/>
      </c:barChart>
      <c:catAx>
        <c:axId val="12588134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7140608"/>
        <c:crosses val="autoZero"/>
        <c:auto val="1"/>
        <c:lblAlgn val="ctr"/>
        <c:lblOffset val="100"/>
        <c:noMultiLvlLbl val="1"/>
      </c:catAx>
      <c:valAx>
        <c:axId val="127140608"/>
        <c:scaling>
          <c:orientation val="minMax"/>
        </c:scaling>
        <c:axPos val="l"/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s-ES"/>
          </a:p>
        </c:txPr>
        <c:crossAx val="125881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3380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28600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Comercial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· 2013–2017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2860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DE RENDIMIENTO COMERCIAL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principales y tendencia global de ventas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Categorías y Productos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Office Supplies y Furniture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31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Comercial y Clientes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por agente y segmentación de clientes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trimestral y tendencias acumuladas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Competitivo y de Contexto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del sector y posicionamiento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319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160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estratégicas accionables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VISIÓN GENERAL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Principales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32918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192024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1.206 mil 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Totales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2013–2017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32918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34440"/>
            <a:ext cx="192024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 mil 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Absoluto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+47,13% margen rel.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1920240" cy="32918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34440"/>
            <a:ext cx="192024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Totales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~4,8 años de actividad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1234440"/>
            <a:ext cx="1920240" cy="329184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1234440"/>
            <a:ext cx="192024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47,13%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2743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Relativo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rentabilidad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F0B429">
              <a:alpha val="15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36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Crecimiento acumulado sostenido a lo largo de todo el periodo, con una tendencia mensual claramente ascendente.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548640" cy="54864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463040"/>
            <a:ext cx="548640" cy="548640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463040"/>
            <a:ext cx="548640" cy="548640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463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CATEGORÍAS Y PRODUCTOS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y Margen por Categoría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05840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05840"/>
            <a:ext cx="10972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3533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831 mil €   ·   Margen: 386 mil €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852160" y="1600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Cuota: 68,9%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0" y="2103120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103120"/>
            <a:ext cx="10972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24505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343 mil €   ·   Margen: 164 mil €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52160" y="26974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Cuota: 28,4%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3200400"/>
            <a:ext cx="3108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20040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52160" y="35478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32 mil €   ·   Margen: 18 mil €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52160" y="3794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Cuota: 2,7%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37083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Technology concentra casi el 69% de todas las ventas. La alta diversidad de margen entre categorías revela oportunidades de optimización en Furniture.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CATEGORÍAS Y PRODUCTOS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Productos por Ventas y Margen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· VENTAS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 PC940 Copier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47472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214k€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HFX LaserJet 3310 Copier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63639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6559" y="22585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201k€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Programmable KB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121777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0696" y="29169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467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Stylus 1520 C.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1136591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9511" y="35753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70k€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050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UGen Ultra Professional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1120354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3274" y="42336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69k€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· MARGEN 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Rubber Bands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1627632"/>
            <a:ext cx="3021909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13949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82.62%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198424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0299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Rubber Bands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286000"/>
            <a:ext cx="2973263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5303" y="22585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81.29%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642616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6883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TechSavi Internet Navi.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944368"/>
            <a:ext cx="2900111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2151" y="29169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79.29%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30098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467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Keyboard-In-A-Box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3602736"/>
            <a:ext cx="2855854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47894" y="35753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78.08%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3959352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0050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Neon Mac Format.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4261104"/>
            <a:ext cx="2826228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18268" y="42336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77.27%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EQUIPO COMERCIAL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 por Agente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17373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56032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Yvette Biti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156k€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Margen: 75k€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560320" cy="17373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56032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 Song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938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128k€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Margen: 54k€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560320" cy="17373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05840"/>
            <a:ext cx="2560320" cy="6400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D7F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 Carlton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1938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Ventas: 127k€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Margen: 65k€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880360"/>
          <a:ext cx="84124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SEGMENTACIÓN DE CLIENTES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por Tipología de Cliente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MEDIA POR SEGMENTO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325880"/>
            <a:ext cx="10972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37760" y="1673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valor por operación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138160" y="14630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3k€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754880" y="210312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103120"/>
            <a:ext cx="10972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estable y recurrente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138160" y="22402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2k€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0" y="28803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880360"/>
            <a:ext cx="1097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926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3227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volumen de pedidos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138160" y="30175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2k€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754880" y="365760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657600"/>
            <a:ext cx="109728" cy="65836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25" name="Text 22"/>
          <p:cNvSpPr/>
          <p:nvPr/>
        </p:nvSpPr>
        <p:spPr>
          <a:xfrm>
            <a:off x="493776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3776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emergente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38160" y="379476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2k€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37083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Small Business destaca con la venta media más alta, representando una oportunidad estratégica de expansión con campañas dirigidas a este segmento.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EVOLUCIÓN TEMPORAL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Trimestral de Ventas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77640"/>
          <a:ext cx="50292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577840" y="1005840"/>
            <a:ext cx="3200400" cy="1188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577840" y="1005840"/>
            <a:ext cx="32004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5778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trimestre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7784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+64,22% crecimiento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577840" y="2331720"/>
            <a:ext cx="3200400" cy="1188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2331720"/>
            <a:ext cx="32004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7784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57784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máximos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577840" y="3200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trimestre estrella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577840" y="3657600"/>
            <a:ext cx="3200400" cy="118872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3657600"/>
            <a:ext cx="320040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3749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Estacional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557784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observado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577840" y="4526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en Q2 y Q4 cada año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ANÁLISIS DE 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Posicionamiento y Benchmarks del Sector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424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Margen relativo del 47% muy superior al sector (media 20–30%)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Alta concentración en Tech: categoría con mayor demanda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Equipo comercial con Yvette Biti como top performer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424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Alta dependencia de pocos productos estrella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7282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Furniture: sólo el 2,7% de ventas totales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20665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Estacionalidad marcada en Q1 y Q3 (caída &gt;40%)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41148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08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558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Small Business: mayor valor medio por cliente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6941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Potencial en productos con margen &gt;75% (Alliance, TechSavi)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0325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Crecimiento digital y demanda continua de tecnología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4114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08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3558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Dependencia de copiadoras/impresoras en un mercado que se digitaliza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6941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Riesgo de concentración en pocos clientes de alto valor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0" y="40325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Competencia en Office Supplies de plataformas online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Clave del Análisis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Sostenido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ventas acumuladas muestran una tendencia ascendente clara a lo largo de 2013–2017, evidenciando solidez del modelo comercial.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6002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143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en Technology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Tech genera el 68,9% de los ingresos y el 67,9% del margen. Es el motor principal del negocio y requiere atención estratégica prioritaria.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16002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41148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80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Segmento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ofrece la venta media más alta (3k€). Home Office lidera en volumen. La dualidad permite estrategias diferenciadas.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114800" cy="16002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41148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880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Margen Relativo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47,13% de margen relativo supera ampliamente benchmarks del sector (20–30%), reflejando una estructura de costes muy competitiva.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411480" cy="41148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07792"/>
            <a:ext cx="411480" cy="411480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70432"/>
            <a:ext cx="411480" cy="411480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077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PRÓXIMOS PASOS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Estratégicas Accionables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09728" cy="89611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07008"/>
            <a:ext cx="475488" cy="47548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0515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· 0–3 meses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Potenciar Technology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15361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stock, soporte y campañas en los top-sellers de copiadoras y accesorios. Crear bundle ofertas con los productos de mayor margen (&gt;75%).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1680"/>
            <a:ext cx="109728" cy="8961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12848"/>
            <a:ext cx="475488" cy="47548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12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 · 3–6 meses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Small Business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25420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programa de fidelización B2B específico para el segmento de mayor valor medio por cliente. Asignar un agente de cuenta dedicado.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109728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21868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218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0632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 · 6–12 meses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Furniture y productos con bajo margen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" y="35478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precio-coste en las referencias con margen &lt;20%. Evaluar descontinuación o repricing para optimizar el mix de producto.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23360"/>
            <a:ext cx="109728" cy="89611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224528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069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 · 12 meses+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" y="4279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Combatir la estacionalidad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4553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campañas específicas para Q1 y Q3 (trimestres de caída). Implementar forecast de ventas para mejorar la planificación de inventario.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 · Dashboard Comercial 2013–2017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4997196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743200"/>
            <a:ext cx="1645920" cy="1645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371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25603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Gerardo Sánchez Cárdenas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de Rendimiento Comercial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2017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1371600" cy="8229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767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1.206k€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286000" y="3749040"/>
            <a:ext cx="1371600" cy="8229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0" y="3767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47,1%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8600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931920" y="3749040"/>
            <a:ext cx="1371600" cy="82296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0" y="3767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3192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914</Words>
  <Application>Microsoft Office PowerPoint</Application>
  <PresentationFormat>Presentación en pantalla (16:9)</PresentationFormat>
  <Paragraphs>195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Comercial 2013–2017</dc:title>
  <dc:subject>PptxGenJS Presentation</dc:subject>
  <dc:creator>Jesús Gerardo Sánchez Cárdenas</dc:creator>
  <cp:lastModifiedBy>Dell</cp:lastModifiedBy>
  <cp:revision>2</cp:revision>
  <dcterms:created xsi:type="dcterms:W3CDTF">2026-03-05T13:37:03Z</dcterms:created>
  <dcterms:modified xsi:type="dcterms:W3CDTF">2026-03-05T15:44:10Z</dcterms:modified>
</cp:coreProperties>
</file>